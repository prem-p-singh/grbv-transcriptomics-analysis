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[Your Name]</a:t>
            </a:r>
          </a:p>
          <a:p>
            <a:r>
              <a:t>Institution: [Your Institution]</a:t>
            </a:r>
          </a:p>
          <a:p>
            <a:r>
              <a:t>Date: [Date]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Python scripts, 35 figures, 13 CSV outputs. Pipeline: raw counts → filtering → normalization → DE analysis → pathway enrichment → biomarker discovery → QTL cross-ref → heat-stress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PCA of 14,604 genes across 327 samples. log2(CPM+1) normalized.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 and KEGG enrichment for infection duration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 and KEGG enrichment for maturity stage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Q5: Environmental changes in RB- controls. Q6: Biphasic trajectory — acute defense to chronic metabolism.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arguably the most important finding — the seasonal inversion of response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Pathway enrichment grid across all 8 season x stage combinations.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pathway progression through ripening for each season.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Master heatmap showing enrichment significance across all 20+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Correlations between temperature, viral titer, and DEG counts across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Plot 34: 4-panel overview of heat gene categories, DEG counts, correlations, module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Plot 35: Classification, FC scatter, gene profiles, HSF-sHSP module correlation.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Expression profiles of top 16 biomarkers across all season x stage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Overlap statistics, category breakdown, functional interpretation of co-localization.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Cross-referencing findings across all research questions. 908 universal DEGs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1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notesSlide" Target="../notesSlides/notesSlide1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Calibri"/>
              </a:defRPr>
            </a:pPr>
            <a:r>
              <a:t>Comprehensive Transcriptomic Analysis of</a:t>
            </a:r>
            <a:br/>
            <a:r>
              <a:t>Grapevine Red Blotch Virus (GRBV) Infection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A Multi-Dimensional RNA-Seq Study Across Infection Duration,</a:t>
            </a:r>
            <a:br/>
            <a:r>
              <a:t>Maturity Stages, Seasons, and Environmental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5156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Study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1645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Samples (RB+ infected &amp; RB- controls)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188720"/>
            <a:ext cx="3474720" cy="16459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3716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14,604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Genes analyzed after quality filtering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188720"/>
            <a:ext cx="3474720" cy="164592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Core research questions addressed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3474720" cy="16459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Publication-quality figures generated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108960"/>
            <a:ext cx="3474720" cy="1645920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2918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023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Heat-stress genes characterized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108960"/>
            <a:ext cx="3474720" cy="1645920"/>
          </a:xfrm>
          <a:prstGeom prst="rect">
            <a:avLst/>
          </a:prstGeom>
          <a:solidFill>
            <a:srgbClr val="8C5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2918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023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Universal biomarkers identified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Study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Q1: How does infection duration (years since infection) affect the grapevine transcriptome?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Q2: How does berry maturity stage modulate the GRBV response?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Q3: Are GRBV-induced changes reproducible across seasons (2021 vs 2022)?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Q4: Does the environment modulate GRBV transcriptomic effects?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Q5: What are baseline environmental changes in uninfected vines?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Q6: What is the transcriptomic trajectory as infection ages?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PLUS: Biomarker discovery, GWAS/QTL cross-referencing, and heat-stress signature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Analysis Pipeline</a:t>
            </a:r>
          </a:p>
        </p:txBody>
      </p:sp>
      <p:pic>
        <p:nvPicPr>
          <p:cNvPr id="4" name="Picture 3" descr="23_analysis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972800" cy="158135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E86AB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Global Transcriptome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029200"/>
            <a:ext cx="36576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Global PCA: Variance Hierarchy</a:t>
            </a:r>
          </a:p>
        </p:txBody>
      </p:sp>
      <p:pic>
        <p:nvPicPr>
          <p:cNvPr id="4" name="Picture 3" descr="01_global_pc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6529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887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Maturity stage is the dominant source of variance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Season is the second major axis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Infection status (RB+ vs RB-) shows subtle but consistent separation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Infection duration has the smallest effect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Hierarchy: Stage &gt; Season &gt; Infection &gt; Duration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E86AB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Core Research Questions (Q1-Q6)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029200"/>
            <a:ext cx="36576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Q1: Infection Duration Effects</a:t>
            </a:r>
          </a:p>
        </p:txBody>
      </p:sp>
      <p:pic>
        <p:nvPicPr>
          <p:cNvPr id="4" name="Picture 3" descr="02_Q1_infection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65269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887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Biphasic response pattern discovered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Early responders: defense genes (NB-LRR, PR)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Late responders: metabolism genes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Year cohort analysis across 2016-2022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Infection age correlates with transcriptomic shift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Q1: Pathway Enrichment by Duration</a:t>
            </a:r>
          </a:p>
        </p:txBody>
      </p:sp>
      <p:pic>
        <p:nvPicPr>
          <p:cNvPr id="4" name="Picture 3" descr="08_Q1_pathway_enri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972800" cy="94273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Q2: Maturity Stage Effects</a:t>
            </a:r>
          </a:p>
        </p:txBody>
      </p:sp>
      <p:pic>
        <p:nvPicPr>
          <p:cNvPr id="4" name="Picture 3" descr="03_Q2_maturity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66241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887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Response intensity increases with ripening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Post-veraison and Harvest show strongest effects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Stage-specific DEG sets with limited overlap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Developmental context shapes viral 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Q2: Pathway Enrichment by Stage</a:t>
            </a:r>
          </a:p>
        </p:txBody>
      </p:sp>
      <p:pic>
        <p:nvPicPr>
          <p:cNvPr id="4" name="Picture 3" descr="09_Q2_pathway_enri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972800" cy="103476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Q3: Seasonal Reproducibility</a:t>
            </a:r>
          </a:p>
        </p:txBody>
      </p:sp>
      <p:pic>
        <p:nvPicPr>
          <p:cNvPr id="4" name="Picture 3" descr="04_Q3_seasonal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6529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887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Cross-season fold-change correlation: r = 0.33-0.69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Core response is conserved across years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Season-specific genes reveal environmental interaction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2021 cooler, 2022 hotter (+7.6C at Harvest)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Q4: Environmental Modulation</a:t>
            </a:r>
          </a:p>
        </p:txBody>
      </p:sp>
      <p:pic>
        <p:nvPicPr>
          <p:cNvPr id="4" name="Picture 3" descr="05_Q4_environmental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6529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887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Environment MODULATES (not just adds to) GRBV effects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Interaction terms significant for many pathways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Hotter conditions alter both direction and magnitude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Not a simple additive model — true interaction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Q5: Baseline Environment &amp; Q6: Infection Trajectory</a:t>
            </a:r>
          </a:p>
        </p:txBody>
      </p:sp>
      <p:pic>
        <p:nvPicPr>
          <p:cNvPr id="4" name="Picture 3" descr="06_Q5_uninfected_enviro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760720" cy="5142119"/>
          </a:xfrm>
          <a:prstGeom prst="rect">
            <a:avLst/>
          </a:prstGeom>
        </p:spPr>
      </p:pic>
      <p:pic>
        <p:nvPicPr>
          <p:cNvPr id="5" name="Picture 4" descr="07_Q6_transcriptome_traje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760720" cy="52500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E86A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FINDING: Inverted Seasonal Trajectory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029200"/>
            <a:ext cx="36576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Seasonal x Maturity DEG Landscape</a:t>
            </a:r>
          </a:p>
        </p:txBody>
      </p:sp>
      <p:pic>
        <p:nvPicPr>
          <p:cNvPr id="4" name="Picture 3" descr="15_seasonal_maturity_DE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70671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887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KEY FINDING: Inverted response kinetics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2021 (cooler): Peak at Harvest (1,192 DEGs)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2022 (hotter): Peak at Post-veraison (565 DEGs)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Diagnostic timing must account for season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Environment reshapes GRBV response trajectory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Pathway Dynamics Across Season x Stage</a:t>
            </a:r>
          </a:p>
        </p:txBody>
      </p:sp>
      <p:pic>
        <p:nvPicPr>
          <p:cNvPr id="4" name="Picture 3" descr="16_seasonal_maturity_pathway_enri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972800" cy="129260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Seasonal Pathway Landscape &amp; PCA Transitions</a:t>
            </a:r>
          </a:p>
        </p:txBody>
      </p:sp>
      <p:pic>
        <p:nvPicPr>
          <p:cNvPr id="4" name="Picture 3" descr="17_seasonal_maturity_pathway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760720" cy="5182230"/>
          </a:xfrm>
          <a:prstGeom prst="rect">
            <a:avLst/>
          </a:prstGeom>
        </p:spPr>
      </p:pic>
      <p:pic>
        <p:nvPicPr>
          <p:cNvPr id="5" name="Picture 4" descr="18_seasonal_maturity_transitions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760720" cy="498425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Stage-by-Stage Pathway Detail</a:t>
            </a:r>
          </a:p>
        </p:txBody>
      </p:sp>
      <p:pic>
        <p:nvPicPr>
          <p:cNvPr id="4" name="Picture 3" descr="19_seasonal_maturity_pathway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972800" cy="108497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E86A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Systems-Level Pathway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029200"/>
            <a:ext cx="36576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Master Pathway Landscape</a:t>
            </a:r>
          </a:p>
        </p:txBody>
      </p:sp>
      <p:pic>
        <p:nvPicPr>
          <p:cNvPr id="4" name="Picture 3" descr="14_master_pathway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68668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887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Phenylpropanoid biosynthesis: consistently enriched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Plant-pathogen interaction: defense activation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ABC transporters: altered metabolite transport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Starch/sucrose metabolism: sugar accumulation disrupted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Photosynthesis affected at specific stages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Q3 &amp; Q4 Pathway Enrichment</a:t>
            </a:r>
          </a:p>
        </p:txBody>
      </p:sp>
      <p:pic>
        <p:nvPicPr>
          <p:cNvPr id="4" name="Picture 3" descr="10_Q3_pathway_enri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760720" cy="4443193"/>
          </a:xfrm>
          <a:prstGeom prst="rect">
            <a:avLst/>
          </a:prstGeom>
        </p:spPr>
      </p:pic>
      <p:pic>
        <p:nvPicPr>
          <p:cNvPr id="5" name="Picture 4" descr="11_Q4_pathway_enrich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760720" cy="456276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Q5 &amp; Q6 Pathway Enrichment</a:t>
            </a:r>
          </a:p>
        </p:txBody>
      </p:sp>
      <p:pic>
        <p:nvPicPr>
          <p:cNvPr id="4" name="Picture 3" descr="12_Q5_pathway_enri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760720" cy="5845177"/>
          </a:xfrm>
          <a:prstGeom prst="rect">
            <a:avLst/>
          </a:prstGeom>
        </p:spPr>
      </p:pic>
      <p:pic>
        <p:nvPicPr>
          <p:cNvPr id="5" name="Picture 4" descr="13_Q6_pathway_enrich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760720" cy="4941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E86AB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Environmental Context &amp; Viral Titer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029200"/>
            <a:ext cx="36576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Weather Conditions at Sampling</a:t>
            </a:r>
          </a:p>
        </p:txBody>
      </p:sp>
      <p:pic>
        <p:nvPicPr>
          <p:cNvPr id="4" name="Picture 3" descr="30_weather_overview_sam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52149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887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2021: cooler growing season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2022: significantly hotter (+7.6C at Harvest)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Temperature tracked with daily weather data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GDD accumulation differed between years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Virus Titer Patterns</a:t>
            </a:r>
          </a:p>
        </p:txBody>
      </p:sp>
      <p:pic>
        <p:nvPicPr>
          <p:cNvPr id="4" name="Picture 3" descr="31_virus_tite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57976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887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Viral load varies by maturity stage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Season affects titer dynamics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Titer correlates with transcriptomic magnitude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Integrated Temperature-Titer-DEG Analysis</a:t>
            </a:r>
          </a:p>
        </p:txBody>
      </p:sp>
      <p:pic>
        <p:nvPicPr>
          <p:cNvPr id="4" name="Picture 3" descr="32_integrated_temp_titer_D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760720" cy="3760372"/>
          </a:xfrm>
          <a:prstGeom prst="rect">
            <a:avLst/>
          </a:prstGeom>
        </p:spPr>
      </p:pic>
      <p:pic>
        <p:nvPicPr>
          <p:cNvPr id="5" name="Picture 4" descr="33_temperature_titer_sh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760720" cy="456566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E86AB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Heat-Stress Signatures &amp; Virus-Heat Disentanglement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029200"/>
            <a:ext cx="36576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Heat-Stress Analysis: Key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1645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Heat-stress genes expressed (9 categories)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188720"/>
            <a:ext cx="3474720" cy="16459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3716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Heat genes differentially expressed due to GRBV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188720"/>
            <a:ext cx="3474720" cy="164592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29/36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sHSPs downregulated at 2021 Harvest (RB+)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3474720" cy="16459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Heat genes with BOTH virus + environment effects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108960"/>
            <a:ext cx="3474720" cy="1645920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2918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+7.6C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023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Temperature difference at Harvest (2022 vs 2021)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108960"/>
            <a:ext cx="3474720" cy="1645920"/>
          </a:xfrm>
          <a:prstGeom prst="rect">
            <a:avLst/>
          </a:prstGeom>
          <a:solidFill>
            <a:srgbClr val="8C5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2918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 = 0.625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023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HSF-sHSP module score correlation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Heat-Stress Gene Expression Landscape</a:t>
            </a:r>
          </a:p>
        </p:txBody>
      </p:sp>
      <p:pic>
        <p:nvPicPr>
          <p:cNvPr id="4" name="Picture 3" descr="34_heat_stress_gene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59575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887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9 categories: sHSP, HSP70, HSP90, HSP100, HSF, GolS, LEA, antioxidant, GO:heat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sHSPs show strongest stage- and season-dependent expression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2022 Harvest: highest sHSP module score in controls (+1.64)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GRBV infection REDUCES sHSP module by ~50%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Virus suppresses host proteostasis network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Heat vs Virus Effect Disentanglement</a:t>
            </a:r>
          </a:p>
        </p:txBody>
      </p:sp>
      <p:pic>
        <p:nvPicPr>
          <p:cNvPr id="4" name="Picture 3" descr="35_heat_vs_virus_disentang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57976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887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At Harvest: 23 genes regulated by BOTH virus AND environment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At Post-veraison: virus effect dominates (42 virus-only DEGs)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FC scatter shows virus OPPOSES environmental heat induction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HSF → sHSP regulatory axis confirmed (r=0.625, p=7.2e-37)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GRBV may compromise vine heat tolerance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E86AB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Biomarker Discovery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029200"/>
            <a:ext cx="36576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Biomarker Scoring &amp; Classification</a:t>
            </a:r>
          </a:p>
        </p:txBody>
      </p:sp>
      <p:pic>
        <p:nvPicPr>
          <p:cNvPr id="4" name="Picture 3" descr="20_biomarke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79916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887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Composite score: consistency + effect size + significance + direction + robustness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12 universal biomarkers robust across ALL conditions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3-gene panel achieves AUC = 1.000 (perfect classification)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Top host biomarker: F-box/LRR protein (AUC = 0.880)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35 early-detection + 23 harvest-specific biomarkers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Biomarker Expression Profiles</a:t>
            </a:r>
          </a:p>
        </p:txBody>
      </p:sp>
      <p:pic>
        <p:nvPicPr>
          <p:cNvPr id="4" name="Picture 3" descr="21_biomarker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972800" cy="1279713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Biomarker Robustness Analysis</a:t>
            </a:r>
          </a:p>
        </p:txBody>
      </p:sp>
      <p:pic>
        <p:nvPicPr>
          <p:cNvPr id="4" name="Picture 3" descr="22_biomarker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65058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887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Fold-change consistency across seasons verified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AUC stability across cross-validation folds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Significance matrix confirms multi-condition robustness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RT-qPCR validation candidates identified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E86AB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GWAS/QTL Cross-Reference &amp; Breeding Implications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029200"/>
            <a:ext cx="36576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Biomarker-QTL Chromosome Map</a:t>
            </a:r>
          </a:p>
        </p:txBody>
      </p:sp>
      <p:pic>
        <p:nvPicPr>
          <p:cNvPr id="4" name="Picture 3" descr="24_biomarker_QTL_chromosom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51040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887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60% of biomarkers co-localize with known QTLs (1 Mb window)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40% fall directly inside QTL intervals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18 biomarkers in disease-resistance clusters (Rpv, Ren, Run)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8 biomarkers near berry-quality loci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Sugar QTL link: RNA-dep RNA polymerase → sugar accumulation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QTL Cross-Reference Summary</a:t>
            </a:r>
          </a:p>
        </p:txBody>
      </p:sp>
      <p:pic>
        <p:nvPicPr>
          <p:cNvPr id="4" name="Picture 3" descr="25_biomarker_QTL_crossref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972800" cy="910797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E86AB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Analytical Robustness &amp;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029200"/>
            <a:ext cx="36576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Pooled vs Stratified Comparison &amp; Overlap Heatmap</a:t>
            </a:r>
          </a:p>
        </p:txBody>
      </p:sp>
      <p:pic>
        <p:nvPicPr>
          <p:cNvPr id="4" name="Picture 3" descr="26_pooled_vs_stratifie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760720" cy="4891785"/>
          </a:xfrm>
          <a:prstGeom prst="rect">
            <a:avLst/>
          </a:prstGeom>
        </p:spPr>
      </p:pic>
      <p:pic>
        <p:nvPicPr>
          <p:cNvPr id="5" name="Picture 4" descr="27_overlap_connectivity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760720" cy="532888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Cross-Question Integration &amp; Summary Dashboard</a:t>
            </a:r>
          </a:p>
        </p:txBody>
      </p:sp>
      <p:pic>
        <p:nvPicPr>
          <p:cNvPr id="4" name="Picture 3" descr="28_Q1Q2_vs_Q3Q4_cross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760720" cy="4891785"/>
          </a:xfrm>
          <a:prstGeom prst="rect">
            <a:avLst/>
          </a:prstGeom>
        </p:spPr>
      </p:pic>
      <p:pic>
        <p:nvPicPr>
          <p:cNvPr id="5" name="Picture 4" descr="29_comprehensive_summary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760720" cy="373630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E86A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Conclusions &amp; Future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029200"/>
            <a:ext cx="36576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Key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1. GRBV effects are profoundly stage-dependent, peaking at Post-veraison and Harvest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2. Seasonal response trajectory is INVERTED: 2021 peaks at Harvest, 2022 peaks at Post-veraison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3. GRBV suppresses heat-stress genes (sHSPs), potentially compromising vine thermal tolerance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4. 12 universal biomarkers + 3-gene panel (AUC=1.0) enable robust diagnostics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5. 60% of biomarkers co-localize with known disease-resistance and berry-quality QTLs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6. Sugar accumulation QTL link explains primary GRBV symptom (delayed ripening, reduced Brix)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Future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RT-qPCR validation of top biomarkers in independent vineyards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Functional validation of sHSP suppression mechanism (e.g., VIGS knockdown)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Expand to additional cultivars (Cabernet Sauvignon, Merlot, Zinfandel)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Integrate with metabolomics (anthocyanin, sugar profiling)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Develop field-deployable molecular diagnostic assay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Test biomarker-QTL candidates in breeding populations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E86AB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5303520"/>
            <a:ext cx="393192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F0F0"/>
                </a:solidFill>
                <a:latin typeface="Calibri"/>
              </a:defRPr>
            </a:pPr>
            <a:r>
              <a:t>[Your Name]  |  [Institution]  | 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